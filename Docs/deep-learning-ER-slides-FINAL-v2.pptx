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242B"/>
                </a:solidFill>
                <a:latin typeface="Calibri"/>
              </a:defRPr>
            </a:pPr>
            <a:r>
              <a:t>Deep Learning for Entity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B7280"/>
                </a:solidFill>
                <a:latin typeface="Calibri"/>
              </a:defRPr>
            </a:pPr>
            <a:r>
              <a:t>A Literature Review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Three Waves of Deep Learning in 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Wave 1 (2017–2019) — Learned representations. </a:t>
            </a:r>
            <a:r>
              <a:rPr sz="1600">
                <a:solidFill>
                  <a:srgbClr val="1F242B"/>
                </a:solidFill>
                <a:latin typeface="Calibri"/>
              </a:rPr>
              <a:t>DeepER and DeepMatcher replace handcrafted similarity features with learned tuple/attribute representations (RNNs over word embeddings).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19831"/>
            <a:ext cx="10881360" cy="104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Wave 2 (2020–2022) — Pretrained LMs + learned blocking. </a:t>
            </a:r>
            <a:r>
              <a:rPr sz="1600">
                <a:solidFill>
                  <a:srgbClr val="1F242B"/>
                </a:solidFill>
                <a:latin typeface="Calibri"/>
              </a:rPr>
              <a:t>Ditto reframes matching as sequence-pair classification (up to ~+30% F1); AutoBlock / DeepBlocker make dense, label-free candidate generation practical.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726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79823"/>
            <a:ext cx="1088136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Wave 3 (2022–2026) — LLMs. </a:t>
            </a:r>
            <a:r>
              <a:rPr sz="1600">
                <a:solidFill>
                  <a:srgbClr val="1F242B"/>
                </a:solidFill>
                <a:latin typeface="Calibri"/>
              </a:rPr>
              <a:t>From “train a matcher” to “prompt a matcher”: few-shot GPT-3 beats fine-tuned Ditto on 4 of 7 datasets.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20725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5175"/>
            <a:ext cx="1088136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Takeaway for direction choice. </a:t>
            </a:r>
            <a:r>
              <a:rPr sz="1600">
                <a:solidFill>
                  <a:srgbClr val="1F242B"/>
                </a:solidFill>
                <a:latin typeface="Calibri"/>
              </a:rPr>
              <a:t>Pairwise matcher accuracy on small benchmarks is saturated. The frontier moved to systems questions — blocking, scale,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372607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Wave 1a: DeepER (Ebraheem et al., PVLDB 2018)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Compose each tuple into a distributed vector with uni-/bi-directional LSTMs over word embeddings (GloVe or task-tuned).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514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Score tuple similarity on vectors — no handcrafted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56278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Blocking: LSH over tuple vectors, using all attributes instead of a few hand-picked blocking keys.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783711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3212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Outperformed prior solutions on benchmark, biomedical, and multilingual datasets, with less labeled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5955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Wave 1b: DeepMatcher (Mudgal et al., SIGMOD 2018)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Design space. </a:t>
            </a:r>
            <a:r>
              <a:rPr sz="1900">
                <a:solidFill>
                  <a:srgbClr val="1F242B"/>
                </a:solidFill>
                <a:latin typeface="Calibri"/>
              </a:rPr>
              <a:t>Attribute embedding → summarization → alignment → aggregation → classification, shipped as an open-source package inside the Magellan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Findings. </a:t>
            </a:r>
            <a:r>
              <a:rPr sz="1900">
                <a:solidFill>
                  <a:srgbClr val="1F242B"/>
                </a:solidFill>
                <a:latin typeface="Calibri"/>
              </a:rPr>
              <a:t>Deep models beat classical ML (RF/SVM over similarity features) on textual and dirty data, but need large labeled sets and struggle on structured/numeric attributes; hybrid neural + classical is strongest.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56048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Side effect. </a:t>
            </a:r>
            <a:r>
              <a:rPr sz="1900">
                <a:solidFill>
                  <a:srgbClr val="1F242B"/>
                </a:solidFill>
                <a:latin typeface="Calibri"/>
              </a:rPr>
              <a:t>Standardized the Magellan benchmark datasets as the field’s evaluation suite.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3481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Wave 2a: Ditto (Li et al., PVLDB 2020) — the strong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Cast EM as sequence-pair classification: serialize record as “COL attr VAL value …”, concatenate pair with [SEP], fine-tune BERT/RoBERTa cross-encoder.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Three optimizations: domain-knowledge injection (highlight numbers/IDs/names), TF-IDF summarization of long strings, label-preserving data augmentation.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06163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Results. </a:t>
            </a:r>
            <a:r>
              <a:rPr sz="1900">
                <a:solidFill>
                  <a:srgbClr val="1F242B"/>
                </a:solidFill>
                <a:latin typeface="Calibri"/>
              </a:rPr>
              <a:t>Up to ~30% F1 over prior SOTA; matches prior SOTA with ≤ ½ the labels; real 789K × 412K company task: 96.5% F1, with blocking giving 3.8× end-to-end speedup.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33595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82005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Every later matcher paper compares against Ditto — “beat Ditto on Abt-Buy” is a hard sell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409437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Benchmarks: why the classic suite is saturated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Magellan suite (the de-facto eval since 2018): Amazon-Google 11,460 pairs; DBLP-ACM 12,363; DBLP-Scholar 28,707; Walmart-Amazon 10,242; Abt-Buy 9,575; iTunes-Amazon just 539.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93491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Larger successors: WDC Training (26M offers, 20.7M positive pairs, WWW 2019); WDC Products (multi-dimensional robustness, 2023); Machamp (heterogeneous schemas, CIKM 2021).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2092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32504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The classic suite is tiny and overused — near-saturation and overfitting are real concerns.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05993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71516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Cross-paper absolute F1 numbers should not be compared naively (different splits/preprocessing); only within-paper deltas are meaningful.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9894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Wave 2b: Learned Blocking — the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Blocking has opposite economics from matching: very high recall (a missed match is unrecoverable) at extreme efficiency — and its output prices the matcher.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AutoBlock (WSDM 2020). </a:t>
            </a:r>
            <a:r>
              <a:rPr sz="1900">
                <a:solidFill>
                  <a:srgbClr val="1F242B"/>
                </a:solidFill>
                <a:latin typeface="Calibri"/>
              </a:rPr>
              <a:t>Similarity-preserving representation learning + NN search; sub-quadratic; no blocking-key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06163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DeepBlocker (PVLDB 2021). </a:t>
            </a:r>
            <a:r>
              <a:rPr sz="1900">
                <a:solidFill>
                  <a:srgbClr val="1F242B"/>
                </a:solidFill>
                <a:latin typeface="Calibri"/>
              </a:rPr>
              <a:t>Design space of 8 self-supervised deep blockers (no labels) + ANN search — the label-free dense-blocking recipe.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33595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Wave 2b: Learned Blocking — recent advances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SC-Block (ESWC 2024). </a:t>
            </a:r>
            <a:r>
              <a:rPr sz="1900">
                <a:solidFill>
                  <a:srgbClr val="1F242B"/>
                </a:solidFill>
                <a:latin typeface="Calibri"/>
              </a:rPr>
              <a:t>Supervised contrastive learning + FAISS/HNSW; candidate sets ~50% smaller, pipelines 1.5–4× faster, no F1 loss; new WDC-Block benchmark (200B max pairs).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80206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UniBlocker (arXiv 2024). </a:t>
            </a:r>
            <a:r>
              <a:rPr sz="1900">
                <a:solidFill>
                  <a:srgbClr val="1F242B"/>
                </a:solidFill>
                <a:latin typeface="Calibri"/>
              </a:rPr>
              <a:t>Universal dense blocker — contrastive pretraining on generic tabular data, no per-domain tuning; complementary to sparse blocking (union improves recall).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20763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5934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Consensus. </a:t>
            </a:r>
            <a:r>
              <a:rPr sz="1900">
                <a:solidFill>
                  <a:srgbClr val="1F242B"/>
                </a:solidFill>
                <a:latin typeface="Calibri"/>
              </a:rPr>
              <a:t>Dense buys semantic recall (synonyms, paraphrase); sparse is cheap and strong on surface overlap — run both, union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83336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Label Efficiency: attacking the annotation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800">
                <a:solidFill>
                  <a:srgbClr val="1F242B"/>
                </a:solidFill>
                <a:latin typeface="Calibri"/>
              </a:rPr>
              <a:t>ZeroER (SIGMOD 2020). </a:t>
            </a:r>
            <a:r>
              <a:rPr sz="1800">
                <a:solidFill>
                  <a:srgbClr val="1F242B"/>
                </a:solidFill>
                <a:latin typeface="Calibri"/>
              </a:rPr>
              <a:t>Zero labels: fit a GMM over similarity vectors to separate matches/unmatches; comparable to supervised on 5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93491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800">
                <a:solidFill>
                  <a:srgbClr val="1F242B"/>
                </a:solidFill>
                <a:latin typeface="Calibri"/>
              </a:rPr>
              <a:t>Transfer + active learning (Kasai et al., ACL 2019). </a:t>
            </a:r>
            <a:r>
              <a:rPr sz="1800">
                <a:solidFill>
                  <a:srgbClr val="1F242B"/>
                </a:solidFill>
                <a:latin typeface="Calibri"/>
              </a:rPr>
              <a:t>Learn in a high-resource setting, adapt with a few actively selected examples — order of magnitude fewer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2092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32504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800">
                <a:solidFill>
                  <a:srgbClr val="1F242B"/>
                </a:solidFill>
                <a:latin typeface="Calibri"/>
              </a:rPr>
              <a:t>Sudowoodo (ICDE 2023). </a:t>
            </a:r>
            <a:r>
              <a:rPr sz="1800">
                <a:solidFill>
                  <a:srgbClr val="1F242B"/>
                </a:solidFill>
                <a:latin typeface="Calibri"/>
              </a:rPr>
              <a:t>Contrastive self-supervised pretraining; one shared embedder serves both the blocker (NN retrieval) and the matcher.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05993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71516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800">
                <a:solidFill>
                  <a:srgbClr val="1F242B"/>
                </a:solidFill>
                <a:latin typeface="Calibri"/>
              </a:rPr>
              <a:t>DADER (SIGMOD 2022). </a:t>
            </a:r>
            <a:r>
              <a:rPr sz="1800">
                <a:solidFill>
                  <a:srgbClr val="1F242B"/>
                </a:solidFill>
                <a:latin typeface="Calibri"/>
              </a:rPr>
              <a:t>Domain adaptation from labeled source ER datasets to unlabeled targets (six DA strategies).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9894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Wave 3a: Prompting LLMs for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Narayan et al. (PVLDB 2022). </a:t>
            </a:r>
            <a:r>
              <a:rPr sz="1900">
                <a:solidFill>
                  <a:srgbClr val="1F242B"/>
                </a:solidFill>
                <a:latin typeface="Calibri"/>
              </a:rPr>
              <a:t>GPT-3 few-shot beat fully fine-tuned Ditto on 4 of 7 EM datasets with a handful of demonstrations.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Peeters &amp; Bizer (ADBIS 2023). </a:t>
            </a:r>
            <a:r>
              <a:rPr sz="1900">
                <a:solidFill>
                  <a:srgbClr val="1F242B"/>
                </a:solidFill>
                <a:latin typeface="Calibri"/>
              </a:rPr>
              <a:t>Zero-shot ChatGPT reached 82.35% F1 where RoBERTa needed 2,000 training examples; similarity-based demo selection +7.85%.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06163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MatchGPT (EDBT 2025). </a:t>
            </a:r>
            <a:r>
              <a:rPr sz="1900">
                <a:solidFill>
                  <a:srgbClr val="1F242B"/>
                </a:solidFill>
                <a:latin typeface="Calibri"/>
              </a:rPr>
              <a:t>Best LLMs rival fine-tuned PLMs with zero/few examples; key edge is robustness to unseen entities (fine-tuned PLMs memorize training entities); no single best prompt — tune per model × dataset; GPT-4 can diagnose labeling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33595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Wave 3b: Small Fine-tuned LLMs — the cost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AnyMatch (arXiv 2024). </a:t>
            </a:r>
            <a:r>
              <a:rPr sz="1900">
                <a:solidFill>
                  <a:srgbClr val="1F242B"/>
                </a:solidFill>
                <a:latin typeface="Calibri"/>
              </a:rPr>
              <a:t>Zero-shot EM with a fine-tuned GPT-2 (124M) + smart data selection: 2nd-highest overall F1 across 9 benchmarks vs 13 baselines, within 4.4% of MatchGPT/GPT-4 at 3,899× lower inference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80206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Jellyfish (EMNLP 2024). </a:t>
            </a:r>
            <a:r>
              <a:rPr sz="1900">
                <a:solidFill>
                  <a:srgbClr val="1F242B"/>
                </a:solidFill>
                <a:latin typeface="Calibri"/>
              </a:rPr>
              <a:t>Instruction-tuned open models (7B–13B) on data-prep tasks incl. EM; competitive with GPT-3.5/4, runs on a single local GPU — the self-hostable, privacy-preserving matcher archetype.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20763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Beyond Pairwise Calls — and LLM Blocking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LLM-CER (arXiv 2025). </a:t>
            </a:r>
            <a:r>
              <a:rPr sz="1600">
                <a:solidFill>
                  <a:srgbClr val="1F242B"/>
                </a:solidFill>
                <a:latin typeface="Calibri"/>
              </a:rPr>
              <a:t>LLM performs in-context clustering over record sets: next-record-set creation, misclustering guardrail, transitivity-aware merge.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19831"/>
            <a:ext cx="10881360" cy="104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Retrieve–Match–Escalate (2026). </a:t>
            </a:r>
            <a:r>
              <a:rPr sz="1600">
                <a:solidFill>
                  <a:srgbClr val="1F242B"/>
                </a:solidFill>
                <a:latin typeface="Calibri"/>
              </a:rPr>
              <a:t>Production cascade: per-record top-20 retrieval, cheap cross-encoder routes by confidence, only the ambiguous band escalates to an agentic VLM; blocking/recall explicitly bounds the funnel.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726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79823"/>
            <a:ext cx="1088136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Consensus on LLM blocking. </a:t>
            </a:r>
            <a:r>
              <a:rPr sz="1600">
                <a:solidFill>
                  <a:srgbClr val="1F242B"/>
                </a:solidFill>
                <a:latin typeface="Calibri"/>
              </a:rPr>
              <a:t>LLMs are prohibitively expensive for blocking (quadratic pairs × per-pair cost) — use them selectively post-blocking.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20725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5175"/>
            <a:ext cx="1088136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600">
                <a:solidFill>
                  <a:srgbClr val="1F242B"/>
                </a:solidFill>
                <a:latin typeface="Calibri"/>
              </a:rPr>
              <a:t>Shah et al. (Algorithms 2025). </a:t>
            </a:r>
            <a:r>
              <a:rPr sz="1600">
                <a:solidFill>
                  <a:srgbClr val="1F242B"/>
                </a:solidFill>
                <a:latin typeface="Calibri"/>
              </a:rPr>
              <a:t>Blocking + fine-tuned LLaMA3/BERT improves both runtime and F1 over LLM-only linkage. Blocking remains critical in the LLM 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372607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Scalability: record-level vs pair-level blocking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Candidate generation prices the matcher: with cross-encoder / LLM matchers, per-pair inference dominates — candidate-set size (and recall) is the scaling lever.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Record-level. </a:t>
            </a:r>
            <a:r>
              <a:rPr sz="1900">
                <a:solidFill>
                  <a:srgbClr val="1F242B"/>
                </a:solidFill>
                <a:latin typeface="Calibri"/>
              </a:rPr>
              <a:t>Per record, retrieve a bounded top-k (e.g., ANN k-NN over tuple embeddings). Volume O(n·k) — predictable, index-friendly, with a recall-vs-cost knob (k).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56048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Pair-level. </a:t>
            </a:r>
            <a:r>
              <a:rPr sz="1900">
                <a:solidFill>
                  <a:srgbClr val="1F242B"/>
                </a:solidFill>
                <a:latin typeface="Calibri"/>
              </a:rPr>
              <a:t>Emit candidate pairs directly (e.g., all pairs co-occurring in key-based blocks). Volume is hard to bound and explodes on skewed blocks.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3481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Scalability: why the distinction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21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Why it matters. </a:t>
            </a:r>
            <a:r>
              <a:rPr sz="1900">
                <a:solidFill>
                  <a:srgbClr val="1F242B"/>
                </a:solidFill>
                <a:latin typeface="Calibri"/>
              </a:rPr>
              <a:t>Expensive matchers need bounded, per-record candidate budgets — record-level maps cleanly onto ANN infrastructure; pair-level enumeration has no such knob.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80206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Standard metrics: Pairs Completeness (recall), Reduction Ratio, Pairs Quality (Papadakis et al., ACM CSUR 2020).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20763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56048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Blocking recall upper-bounds pipeline recall — a missed match here is unrecoverable downstream.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3481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Graph NNs: a smaller, specialized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Collective signals (transitivity, shared attributes/neighbors) that pairwise classifiers ignore.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HierGAT (SIGMOD 2022). </a:t>
            </a:r>
            <a:r>
              <a:rPr sz="1900">
                <a:solidFill>
                  <a:srgbClr val="1F242B"/>
                </a:solidFill>
                <a:latin typeface="Calibri"/>
              </a:rPr>
              <a:t>Token → attribute → entity graph attention; attention surfaces discriminative tokens per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06163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GraLMatch (EDBT 2025). </a:t>
            </a:r>
            <a:r>
              <a:rPr sz="1900">
                <a:solidFill>
                  <a:srgbClr val="1F242B"/>
                </a:solidFill>
                <a:latin typeface="Calibri"/>
              </a:rPr>
              <a:t>Post-hoc graph correction: build a graph from Ditto’s predictions, remove false positives via transitivity constraints.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33595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82005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1" sz="1900">
                <a:solidFill>
                  <a:srgbClr val="1F242B"/>
                </a:solidFill>
                <a:latin typeface="Calibri"/>
              </a:rPr>
              <a:t>GraphER (arXiv 2024). </a:t>
            </a:r>
            <a:r>
              <a:rPr sz="1900">
                <a:solidFill>
                  <a:srgbClr val="1F242B"/>
                </a:solidFill>
                <a:latin typeface="Calibri"/>
              </a:rPr>
              <a:t>Hybrid rule + learning — graph differential dependencies guide GNN representation learning; best on graph ER, competitive on relational.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409437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Open Problems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Blocking for the LLM era — bounded per-record candidate sets for expensive matchers; learned sparse–dense hybrid blocking.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Universal / zero-config blocking — recall guarantees, automatic configuration, principled fusion of sparse and dense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06163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Realistic large benchmarks — WDC-Block is a start; missing: dirty multilingual, temporal, multimodal ER; evaluation on realistic post-blocking distributions.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33595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82005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Collective ER at scale — joint inference over clusters with guarantees, not post-hoc patches.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409437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Open Problems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Cost, calibration, trust — per-pair LLM cost/throughput, prompt sensitivity, score calibration, privacy (hosted vs local), data contamination.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0322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Hard cases — jargon-heavy domains, schema drift, identifier-heavy records where semantic models underperform symbolic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5775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06163"/>
            <a:ext cx="10881360" cy="86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900">
                <a:solidFill>
                  <a:srgbClr val="1F242B"/>
                </a:solidFill>
                <a:latin typeface="Calibri"/>
              </a:rPr>
              <a:t>Fairness/bias — blocking keys and embeddings vs protected attributes: essentially unstudied.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33595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Saturated vs Open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Sub-area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Supervised pairwise matching on Magellan-size benchmarks</a:t>
                      </a:r>
                    </a:p>
                    <a:p>
                      <a:pPr>
                        <a:defRPr sz="1600" b="1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Saturated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Ditto (2020) is a strong, simple ceiling; datasets tiny and overused.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LLM prompting recipes for pairwise matching</a:t>
                      </a:r>
                    </a:p>
                    <a:p>
                      <a:pPr>
                        <a:defRPr sz="1600" b="1">
                          <a:solidFill>
                            <a:srgbClr val="B45309"/>
                          </a:solidFill>
                          <a:latin typeface="Calibri"/>
                        </a:defRPr>
                      </a:pPr>
                      <a:r>
                        <a:t>Crowded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Headline findings established 2023–2025; needs a new angle to stand out.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Learned dense blocking (self-supervised + ANN)</a:t>
                      </a:r>
                    </a:p>
                    <a:p>
                      <a:pPr>
                        <a:defRPr sz="1600" b="1">
                          <a:solidFill>
                            <a:srgbClr val="16652E"/>
                          </a:solidFill>
                          <a:latin typeface="Calibri"/>
                        </a:defRPr>
                      </a:pPr>
                      <a:r>
                        <a:t>Open, high-impact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Recall–cost tradeoffs unsettled; universal blockers new; blocking for LLM matchers wide open.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Scaling ER end-to-end</a:t>
                      </a:r>
                    </a:p>
                    <a:p>
                      <a:pPr>
                        <a:defRPr sz="1600" b="1">
                          <a:solidFill>
                            <a:srgbClr val="16652E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Cost models, cascades, large-scale evaluation just emerging.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Collective / graph-structured ER</a:t>
                      </a:r>
                    </a:p>
                    <a:p>
                      <a:pPr>
                        <a:defRPr sz="1600" b="1">
                          <a:solidFill>
                            <a:srgbClr val="16652E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Young theory, young methods.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Label-efficient ER</a:t>
                      </a:r>
                    </a:p>
                    <a:p>
                      <a:pPr>
                        <a:defRPr sz="1600" b="1">
                          <a:solidFill>
                            <a:srgbClr val="1D4E89"/>
                          </a:solidFill>
                          <a:latin typeface="Calibri"/>
                        </a:defRPr>
                      </a:pPr>
                      <a:r>
                        <a:t>Partially 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Active learning for blocking config underexplored.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Trustworthy ER (calibration, fairness, privacy)</a:t>
                      </a:r>
                    </a:p>
                    <a:p>
                      <a:pPr>
                        <a:defRPr sz="1600" b="1">
                          <a:solidFill>
                            <a:srgbClr val="16652E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Barely studied; growing in importance.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Recommendation: choose Scaling / Blocking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A scaling/blocking paper has clearer headroom, a more direct industry audience, and composes with — rather than competes against — every matcher advance.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93491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The more expensive matchers get (LLMs), the more valuable blocking becomes: it prices the whole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2092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32504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If going the matcher route anyway, aim at an unsolved axis: OOD / unseen entities, identifier-heavy domains, multimodality, calibration — not another point of F1 on DBLP-ACM.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05993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71516"/>
            <a:ext cx="10881360" cy="82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>
                <a:solidFill>
                  <a:srgbClr val="1F242B"/>
                </a:solidFill>
                <a:latin typeface="Calibri"/>
              </a:rPr>
              <a:t>Required: method innovation, not benchmarking — e.g., principled recall guarantees for learned blocking, cost-aware cascades, universal blockers with bounded per-record budgets.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9894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Selected References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Ebraheem et al., DeepER — PVLDB 2018;  Mudgal et al., DeepMatcher — SIGMOD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3607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Li et al., Ditto — PVLDB 2020;  Tu et al., DADER — SIGMOD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7103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2733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Zhang et al., AutoBlock — WSDM 2020;  Thirumuruganathan et al., DeepBlocker — PVLDB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60165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21860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Wu et al., ZeroER — SIGMOD 2020;  Kasai et al. — ACL 2019;  Wang et al., Sudowoodo — ICDE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4929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10987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Narayan et al., “Can Foundation Models Wrangle Your Data?” — PVLDB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13841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42B"/>
                </a:solidFill>
                <a:latin typeface="Calibri"/>
              </a:defRPr>
            </a:pPr>
            <a:r>
              <a:t>Selected References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7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Peeters &amp; Bizer, “Using ChatGPT for Entity Matching” — ADBIS 2023;  Peeters et al., MatchGPT — EDBT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6661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Brinkmann et al., SC-Block — ESWC 2024;  Wang et al., UniBlocker — arXiv:2404.14831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84093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45788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Shah et al., “The Critical Role of Blocking” — Algorithms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6732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34915"/>
            <a:ext cx="10881360" cy="47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1F242B"/>
                </a:solidFill>
                <a:latin typeface="Calibri"/>
              </a:rPr>
              <a:t>Surveys: Barlaug &amp; Gulla (TKDD 2021);  Papadakis et al. (CSUR 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562347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